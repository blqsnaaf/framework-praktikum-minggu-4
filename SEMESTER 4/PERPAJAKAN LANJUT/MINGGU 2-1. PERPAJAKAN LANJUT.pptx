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404" r:id="rId2"/>
    <p:sldId id="294" r:id="rId3"/>
    <p:sldId id="293" r:id="rId4"/>
    <p:sldId id="291" r:id="rId5"/>
    <p:sldId id="405" r:id="rId6"/>
    <p:sldId id="406" r:id="rId7"/>
    <p:sldId id="413" r:id="rId8"/>
    <p:sldId id="407" r:id="rId9"/>
    <p:sldId id="408" r:id="rId10"/>
    <p:sldId id="409" r:id="rId11"/>
    <p:sldId id="410" r:id="rId12"/>
    <p:sldId id="411" r:id="rId13"/>
    <p:sldId id="412" r:id="rId14"/>
    <p:sldId id="348" r:id="rId15"/>
    <p:sldId id="34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87" d="100"/>
          <a:sy n="87" d="100"/>
        </p:scale>
        <p:origin x="1016" y="-5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40609-FEE5-4044-9716-6D81B927C5E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D0077-9FB0-456C-A28F-9ADE077674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D0077-9FB0-456C-A28F-9ADE077674F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05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75FC6B1-85FF-4F8C-AD5B-3336C9C4003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97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0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80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9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60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6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7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2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4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9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C36DC87-93BC-4299-B659-9870685060EC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912D153-FC5A-40B1-A134-FFAC2E2D9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8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30DE7-2A12-580F-115A-CE608E12A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3086"/>
            <a:ext cx="2283712" cy="1627792"/>
          </a:xfrm>
        </p:spPr>
        <p:txBody>
          <a:bodyPr>
            <a:normAutofit/>
          </a:bodyPr>
          <a:lstStyle/>
          <a:p>
            <a:r>
              <a:rPr lang="en-US" sz="1700"/>
              <a:t>PAJAK PENGHASILAN PPh PASAL 4 AYAT 2 DAN PPh PASAL 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77433-328E-D465-8FBC-1994EF7C8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66" y="4352544"/>
            <a:ext cx="1807988" cy="1239894"/>
          </a:xfrm>
        </p:spPr>
        <p:txBody>
          <a:bodyPr>
            <a:normAutofit/>
          </a:bodyPr>
          <a:lstStyle/>
          <a:p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4F3DE2B-A1ED-ACF7-9F82-F39C913F8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7749" y="692696"/>
            <a:ext cx="6916250" cy="56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04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447856"/>
              </p:ext>
            </p:extLst>
          </p:nvPr>
        </p:nvGraphicFramePr>
        <p:xfrm>
          <a:off x="457200" y="1357298"/>
          <a:ext cx="8381999" cy="2682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Jenis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PPh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1.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Bunga Tabungan/Deposito, Jasa Giro </a:t>
                      </a:r>
                      <a:r>
                        <a:rPr lang="en-US" sz="16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(kecuali saldo s.d. </a:t>
                      </a:r>
                      <a:r>
                        <a:rPr lang="en-US" sz="1600" baseline="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Rp</a:t>
                      </a:r>
                      <a:r>
                        <a:rPr lang="en-US" sz="16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7,5jt)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20% 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Transaksi/Penjualan</a:t>
                      </a:r>
                      <a:r>
                        <a:rPr lang="en-US" sz="1600" baseline="0" dirty="0"/>
                        <a:t> saham di bursa efek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0,1% 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Hadiah</a:t>
                      </a:r>
                      <a:r>
                        <a:rPr lang="en-US" sz="1600" baseline="0" dirty="0"/>
                        <a:t> Undian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25%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4.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strike="sngStrike" dirty="0">
                          <a:solidFill>
                            <a:srgbClr val="FF0000"/>
                          </a:solidFill>
                        </a:rPr>
                        <a:t>Dividen</a:t>
                      </a:r>
                      <a:endParaRPr lang="en-US" sz="1600" b="0" strike="sngStrike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10%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5.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Sewa tanah dan/atau </a:t>
                      </a:r>
                      <a:r>
                        <a:rPr lang="en-US" sz="16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bangunan</a:t>
                      </a:r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10%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6.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id-ID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Revaluasi aktiva tetap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10%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7.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Honor PNS Golongan III/a</a:t>
                      </a:r>
                      <a:r>
                        <a:rPr lang="en-US" sz="16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ke atas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15%</a:t>
                      </a:r>
                      <a:endParaRPr lang="en-U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8596" y="4000504"/>
          <a:ext cx="8381999" cy="23210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0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8.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Pengalihan Hak Tanah/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Bangunan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id-ID" sz="160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r>
                        <a:rPr lang="en-US" sz="1600" baseline="0" dirty="0">
                          <a:solidFill>
                            <a:schemeClr val="tx1"/>
                          </a:solidFill>
                        </a:rPr>
                        <a:t>(kecuali s.d. Rp 60jt &amp; tdk ber-NPWP)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2,5%</a:t>
                      </a:r>
                      <a:r>
                        <a:rPr lang="en-US" sz="1600" dirty="0"/>
                        <a:t> 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3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9.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Bunga/Diskonto</a:t>
                      </a:r>
                      <a:r>
                        <a:rPr lang="en-US" sz="1600" baseline="0" dirty="0"/>
                        <a:t> o</a:t>
                      </a:r>
                      <a:r>
                        <a:rPr lang="en-US" sz="1600" dirty="0"/>
                        <a:t>bligasi di Bursa Efek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15% 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3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10.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Bunga Simpanan Koperasi (kecuali s.d. Rp 240.000)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10%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3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11.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Transaksi kontrak berjangka di bursa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2,5%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3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12.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Uang Pesangon, Pensiun, THT,JHT </a:t>
                      </a:r>
                      <a:r>
                        <a:rPr lang="en-US" sz="1600" dirty="0" err="1"/>
                        <a:t>Sekaligus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Progresif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3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13.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Diskonto</a:t>
                      </a:r>
                      <a:r>
                        <a:rPr lang="en-US" sz="1600" baseline="0" dirty="0"/>
                        <a:t> SBI/SUN 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20%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28662" y="357166"/>
            <a:ext cx="7286676" cy="85725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Penghasilan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dikenakan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dipotong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PPh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Final</a:t>
            </a:r>
            <a:b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Pasal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4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ayat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(2) UU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PPh</a:t>
            </a:r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5220072" y="2607463"/>
            <a:ext cx="2786082" cy="2786082"/>
          </a:xfrm>
          <a:prstGeom prst="wedgeRoundRectCallou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FINAL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PP 23 TAHUN 2018 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(UMKM)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OMZET &lt;4,8 M SETAHUN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0,5%</a:t>
            </a:r>
          </a:p>
          <a:p>
            <a:pPr algn="ctr"/>
            <a:endParaRPr lang="en-US" sz="44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4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Balon Percakapan: Oval 1">
            <a:extLst>
              <a:ext uri="{FF2B5EF4-FFF2-40B4-BE49-F238E27FC236}">
                <a16:creationId xmlns:a16="http://schemas.microsoft.com/office/drawing/2014/main" id="{2B2005A7-9EB9-4E88-B8FB-9673DF7DEA88}"/>
              </a:ext>
            </a:extLst>
          </p:cNvPr>
          <p:cNvSpPr/>
          <p:nvPr/>
        </p:nvSpPr>
        <p:spPr>
          <a:xfrm>
            <a:off x="1979711" y="2500306"/>
            <a:ext cx="2786082" cy="357190"/>
          </a:xfrm>
          <a:prstGeom prst="wedgeEllipseCallout">
            <a:avLst>
              <a:gd name="adj1" fmla="val -57350"/>
              <a:gd name="adj2" fmla="val 6505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Sebagian </a:t>
            </a:r>
            <a:r>
              <a:rPr lang="en-US" sz="1000" dirty="0" err="1"/>
              <a:t>Bukan</a:t>
            </a:r>
            <a:r>
              <a:rPr lang="en-US" sz="1000" dirty="0"/>
              <a:t> </a:t>
            </a:r>
            <a:r>
              <a:rPr lang="en-US" sz="1000" dirty="0" err="1"/>
              <a:t>Objek</a:t>
            </a:r>
            <a:r>
              <a:rPr lang="en-US" sz="1000" dirty="0"/>
              <a:t> </a:t>
            </a:r>
            <a:r>
              <a:rPr lang="en-US" sz="1000" dirty="0" err="1"/>
              <a:t>Pajak</a:t>
            </a:r>
            <a:r>
              <a:rPr lang="en-US" sz="1000" dirty="0"/>
              <a:t> UU </a:t>
            </a:r>
            <a:r>
              <a:rPr lang="en-US" sz="1000" dirty="0" err="1"/>
              <a:t>Ciptaker</a:t>
            </a:r>
            <a:r>
              <a:rPr lang="en-US" sz="1000" dirty="0"/>
              <a:t>/HPP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28596" y="1357298"/>
            <a:ext cx="80010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b="1" dirty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Penghasilan Tidak Dikenakan PPh Final :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Penggantian atau imbalan berkenaan dengan pekerjaan atau jasa yang     diterima atau diperoleh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Hadiah sehubungan dengan pekerjaan atau kegiatan dan penghargaan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Laba usaha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Keuntungan karena penjualan/pengalihan harta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Penerimaan kembali pembayaran pajak yang telah biayakan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Bunga termasuk premium, diskonto dan imbalan karena jaminan pengembalian utang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Deviden dengan nama dan dalam bentuk apapun termasuk dari perusahaan assuransi ke pemgang polis dan SHU Koperasi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Royalti atau imbalan atas penggunaan hak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Sewa dan penghasilan lain sehubungan dengan penggunaan harta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Penerimaan atau perolehan pembayaran berkala,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Keuntungan karena pembebasan hutang kecuali sampai jumlah tertentu yang ditetapkan Peraturan Pemerintah</a:t>
            </a:r>
          </a:p>
          <a:p>
            <a:pPr algn="just"/>
            <a:r>
              <a:rPr lang="id-ID" dirty="0">
                <a:latin typeface="Segoe UI" pitchFamily="34" charset="0"/>
                <a:cs typeface="Segoe UI" pitchFamily="34" charset="0"/>
              </a:rPr>
              <a:t>   </a:t>
            </a:r>
          </a:p>
          <a:p>
            <a:pPr algn="just"/>
            <a:r>
              <a:rPr lang="id-ID" dirty="0">
                <a:latin typeface="Segoe UI" pitchFamily="34" charset="0"/>
                <a:cs typeface="Segoe UI" pitchFamily="34" charset="0"/>
              </a:rPr>
              <a:t>  </a:t>
            </a:r>
            <a:endParaRPr lang="en-US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4348" y="357166"/>
            <a:ext cx="7715304" cy="85725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Penghasilan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dikenakan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dipotong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PPh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Tidak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Final</a:t>
            </a:r>
            <a:b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Pasal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4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ayat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(1) UU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PPh</a:t>
            </a:r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500166" y="5929330"/>
            <a:ext cx="6572296" cy="71438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2060"/>
                </a:solidFill>
              </a:rPr>
              <a:t>Tidak</a:t>
            </a:r>
            <a:r>
              <a:rPr lang="en-US" b="1" dirty="0">
                <a:solidFill>
                  <a:srgbClr val="002060"/>
                </a:solidFill>
              </a:rPr>
              <a:t> Final</a:t>
            </a:r>
          </a:p>
          <a:p>
            <a:pPr algn="ctr"/>
            <a:r>
              <a:rPr lang="en-US" b="1" dirty="0" err="1">
                <a:solidFill>
                  <a:srgbClr val="002060"/>
                </a:solidFill>
              </a:rPr>
              <a:t>Perhitungkan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dalam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mengisi</a:t>
            </a:r>
            <a:r>
              <a:rPr lang="en-US" b="1" dirty="0">
                <a:solidFill>
                  <a:srgbClr val="002060"/>
                </a:solidFill>
              </a:rPr>
              <a:t> SPT </a:t>
            </a:r>
            <a:r>
              <a:rPr lang="en-US" b="1" dirty="0" err="1">
                <a:solidFill>
                  <a:srgbClr val="002060"/>
                </a:solidFill>
              </a:rPr>
              <a:t>Tahunan</a:t>
            </a:r>
            <a:endParaRPr 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28596" y="1357298"/>
            <a:ext cx="80010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b="1" dirty="0">
                <a:latin typeface="Segoe UI" pitchFamily="34" charset="0"/>
                <a:cs typeface="Segoe UI" pitchFamily="34" charset="0"/>
              </a:rPr>
              <a:t>Penghasilan Tidak Dikenakan PPh Final :</a:t>
            </a:r>
          </a:p>
          <a:p>
            <a:pPr algn="just"/>
            <a:endParaRPr lang="id-ID" b="1" dirty="0">
              <a:latin typeface="Segoe UI" pitchFamily="34" charset="0"/>
              <a:cs typeface="Segoe UI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latin typeface="Segoe UI" pitchFamily="34" charset="0"/>
                <a:cs typeface="Segoe UI" pitchFamily="34" charset="0"/>
              </a:rPr>
              <a:t>  </a:t>
            </a:r>
            <a:r>
              <a:rPr lang="id-ID" dirty="0">
                <a:latin typeface="Segoe UI" pitchFamily="34" charset="0"/>
                <a:cs typeface="Segoe UI" pitchFamily="34" charset="0"/>
              </a:rPr>
              <a:t>Keuntungan selisih kurs mata uang asing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latin typeface="Segoe UI" pitchFamily="34" charset="0"/>
                <a:cs typeface="Segoe UI" pitchFamily="34" charset="0"/>
              </a:rPr>
              <a:t>  </a:t>
            </a:r>
            <a:r>
              <a:rPr lang="id-ID" dirty="0">
                <a:latin typeface="Segoe UI" pitchFamily="34" charset="0"/>
                <a:cs typeface="Segoe UI" pitchFamily="34" charset="0"/>
              </a:rPr>
              <a:t>Selisih lebih penilaian kembali aktiva</a:t>
            </a:r>
          </a:p>
          <a:p>
            <a:pPr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dirty="0">
                <a:latin typeface="Segoe UI" pitchFamily="34" charset="0"/>
                <a:cs typeface="Segoe UI" pitchFamily="34" charset="0"/>
              </a:rPr>
              <a:t> </a:t>
            </a:r>
            <a:r>
              <a:rPr lang="id-ID" dirty="0">
                <a:latin typeface="Segoe UI" pitchFamily="34" charset="0"/>
                <a:cs typeface="Segoe UI" pitchFamily="34" charset="0"/>
              </a:rPr>
              <a:t>Premi Assuransi</a:t>
            </a:r>
            <a:endParaRPr lang="en-US" dirty="0">
              <a:latin typeface="Segoe UI" pitchFamily="34" charset="0"/>
              <a:cs typeface="Segoe UI" pitchFamily="34" charset="0"/>
            </a:endParaRPr>
          </a:p>
          <a:p>
            <a:pPr marL="269875" indent="-269875" algn="just">
              <a:buFont typeface="Wingdings" pitchFamily="2" charset="2"/>
              <a:buChar char="ü"/>
            </a:pPr>
            <a:r>
              <a:rPr lang="fi-FI" dirty="0">
                <a:latin typeface="Segoe UI" pitchFamily="34" charset="0"/>
                <a:ea typeface="Segoe UI" pitchFamily="34" charset="0"/>
                <a:cs typeface="Segoe UI" pitchFamily="34" charset="0"/>
              </a:rPr>
              <a:t>iuran yang diterima atau diperoleh perkumpulan dari anggotanya yang terdiri dari WP yang menjalankan usaha atau pekerjaan bebas; </a:t>
            </a:r>
            <a:endParaRPr lang="id-ID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69875" indent="-269875" algn="just">
              <a:buFont typeface="Wingdings" pitchFamily="2" charset="2"/>
              <a:buChar char="ü"/>
            </a:pPr>
            <a:r>
              <a:rPr lang="fi-FI" dirty="0">
                <a:latin typeface="Segoe UI" pitchFamily="34" charset="0"/>
                <a:ea typeface="Segoe UI" pitchFamily="34" charset="0"/>
                <a:cs typeface="Segoe UI" pitchFamily="34" charset="0"/>
              </a:rPr>
              <a:t>tambahan kekayaan neto yang berasal dari penghasilan yang belum dikenakan pajak; </a:t>
            </a:r>
            <a:endParaRPr lang="id-ID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id-ID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fi-FI" dirty="0">
                <a:latin typeface="Segoe UI" pitchFamily="34" charset="0"/>
                <a:ea typeface="Segoe UI" pitchFamily="34" charset="0"/>
                <a:cs typeface="Segoe UI" pitchFamily="34" charset="0"/>
              </a:rPr>
              <a:t>penghasilan dari usaha yang berbasis syariah; </a:t>
            </a:r>
            <a:endParaRPr lang="id-ID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69875" indent="-269875" algn="just">
              <a:buFont typeface="Wingdings" pitchFamily="2" charset="2"/>
              <a:buChar char="ü"/>
            </a:pPr>
            <a:r>
              <a:rPr lang="fi-FI" dirty="0">
                <a:latin typeface="Segoe UI" pitchFamily="34" charset="0"/>
                <a:ea typeface="Segoe UI" pitchFamily="34" charset="0"/>
                <a:cs typeface="Segoe UI" pitchFamily="34" charset="0"/>
              </a:rPr>
              <a:t>imbalan bunga sesuai UU KUP (diatur dalam SE‑04/PJ.42/2002 tanggal 2 April 2002); </a:t>
            </a:r>
            <a:endParaRPr lang="id-ID" dirty="0">
              <a:latin typeface="Segoe UI" pitchFamily="34" charset="0"/>
              <a:cs typeface="Segoe UI" pitchFamily="34" charset="0"/>
            </a:endParaRPr>
          </a:p>
          <a:p>
            <a:pPr algn="just"/>
            <a:r>
              <a:rPr lang="id-ID" dirty="0">
                <a:latin typeface="Segoe UI" pitchFamily="34" charset="0"/>
                <a:cs typeface="Segoe UI" pitchFamily="34" charset="0"/>
              </a:rPr>
              <a:t>  </a:t>
            </a:r>
            <a:endParaRPr lang="en-US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4348" y="357166"/>
            <a:ext cx="7715304" cy="85725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Penghasilan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dikenakan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dipotong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PPh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Tidak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Final</a:t>
            </a:r>
            <a:b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Pasal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4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ayat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(1) UU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PPh</a:t>
            </a:r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500166" y="5143512"/>
            <a:ext cx="6572296" cy="71438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2060"/>
                </a:solidFill>
              </a:rPr>
              <a:t>Tidak</a:t>
            </a:r>
            <a:r>
              <a:rPr lang="en-US" b="1" dirty="0">
                <a:solidFill>
                  <a:srgbClr val="002060"/>
                </a:solidFill>
              </a:rPr>
              <a:t> Final</a:t>
            </a:r>
          </a:p>
          <a:p>
            <a:pPr algn="ctr"/>
            <a:r>
              <a:rPr lang="en-US" b="1" dirty="0" err="1">
                <a:solidFill>
                  <a:srgbClr val="002060"/>
                </a:solidFill>
              </a:rPr>
              <a:t>Perhitungkan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dalam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mengisi</a:t>
            </a:r>
            <a:r>
              <a:rPr lang="en-US" b="1" dirty="0">
                <a:solidFill>
                  <a:srgbClr val="002060"/>
                </a:solidFill>
              </a:rPr>
              <a:t> SPT </a:t>
            </a:r>
            <a:r>
              <a:rPr lang="en-US" b="1" dirty="0" err="1">
                <a:solidFill>
                  <a:srgbClr val="002060"/>
                </a:solidFill>
              </a:rPr>
              <a:t>Tahunan</a:t>
            </a:r>
            <a:endParaRPr 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250" y="804334"/>
            <a:ext cx="7937499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C532E-2E07-EC67-9122-1DA4D811D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7" y="1565339"/>
            <a:ext cx="7454646" cy="372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2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6A9AE5-69DF-4153-B35A-94BDEF32E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9B5318-27A8-4E50-80D9-B92D4F28E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647" y="804672"/>
            <a:ext cx="7934706" cy="5248656"/>
          </a:xfrm>
          <a:prstGeom prst="rect">
            <a:avLst/>
          </a:prstGeom>
          <a:solidFill>
            <a:schemeClr val="bg1"/>
          </a:solidFill>
          <a:ln w="2540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45D74F-A10B-5C70-7693-97CE93E8B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46" y="1491452"/>
            <a:ext cx="7452107" cy="387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0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AD4F7-156C-4D6B-240A-A3463965F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1" y="620688"/>
            <a:ext cx="7292280" cy="5976663"/>
          </a:xfrm>
        </p:spPr>
        <p:txBody>
          <a:bodyPr>
            <a:normAutofit/>
          </a:bodyPr>
          <a:lstStyle/>
          <a:p>
            <a:r>
              <a:rPr lang="id-ID" dirty="0"/>
              <a:t>Pembayaran: Pajak dipotong saat hadiah dibayarkan/terutang. Disetor ke kas negara menggunakan Kode Akun Pajak. </a:t>
            </a:r>
          </a:p>
          <a:p>
            <a:r>
              <a:rPr lang="id-ID" dirty="0"/>
              <a:t>Pelaporan: SPT Masa PPh Pasal 4(2)</a:t>
            </a:r>
          </a:p>
          <a:p>
            <a:r>
              <a:rPr lang="id-ID" dirty="0"/>
              <a:t>Perlakuan Akuntansi</a:t>
            </a:r>
          </a:p>
          <a:p>
            <a:pPr marL="0" indent="0">
              <a:buNone/>
            </a:pPr>
            <a:r>
              <a:rPr lang="id-ID" sz="1600" i="1" dirty="0"/>
              <a:t>Jurnal saat pengakuan:</a:t>
            </a:r>
          </a:p>
          <a:p>
            <a:pPr marL="0" indent="0">
              <a:buNone/>
            </a:pPr>
            <a:r>
              <a:rPr lang="id-ID" sz="1600" dirty="0"/>
              <a:t>Beban Promosi/Hadiah        500.000.000</a:t>
            </a:r>
          </a:p>
          <a:p>
            <a:pPr marL="0" indent="0">
              <a:buNone/>
            </a:pPr>
            <a:r>
              <a:rPr lang="id-ID" sz="1600" dirty="0"/>
              <a:t>     Utang PPh 4(2)                 125.000.000</a:t>
            </a:r>
          </a:p>
          <a:p>
            <a:pPr marL="0" indent="0">
              <a:buNone/>
            </a:pPr>
            <a:r>
              <a:rPr lang="id-ID" sz="1600" dirty="0"/>
              <a:t>     Utang kepada Pemenang           375.000.000</a:t>
            </a:r>
          </a:p>
          <a:p>
            <a:pPr marL="0" indent="0">
              <a:buNone/>
            </a:pPr>
            <a:r>
              <a:rPr lang="id-ID" sz="1600" i="1" dirty="0"/>
              <a:t>Saat Pembayaran ke Pemenang</a:t>
            </a:r>
          </a:p>
          <a:p>
            <a:pPr marL="0" indent="0">
              <a:buNone/>
            </a:pPr>
            <a:r>
              <a:rPr lang="sv-SE" sz="1600" i="1" dirty="0" err="1"/>
              <a:t>Utang</a:t>
            </a:r>
            <a:r>
              <a:rPr lang="sv-SE" sz="1600" i="1" dirty="0"/>
              <a:t> </a:t>
            </a:r>
            <a:r>
              <a:rPr lang="sv-SE" sz="1600" i="1" dirty="0" err="1"/>
              <a:t>kepada</a:t>
            </a:r>
            <a:r>
              <a:rPr lang="sv-SE" sz="1600" i="1" dirty="0"/>
              <a:t> </a:t>
            </a:r>
            <a:r>
              <a:rPr lang="sv-SE" sz="1600" i="1" dirty="0" err="1"/>
              <a:t>Pemenang</a:t>
            </a:r>
            <a:r>
              <a:rPr lang="sv-SE" sz="1600" i="1" dirty="0"/>
              <a:t>      375.000.000</a:t>
            </a:r>
          </a:p>
          <a:p>
            <a:pPr marL="0" indent="0">
              <a:buNone/>
            </a:pPr>
            <a:r>
              <a:rPr lang="sv-SE" sz="1600" i="1" dirty="0"/>
              <a:t>     Kas                               375.000.000</a:t>
            </a:r>
          </a:p>
          <a:p>
            <a:pPr marL="0" indent="0">
              <a:buNone/>
            </a:pPr>
            <a:r>
              <a:rPr lang="id-ID" sz="1600" i="1" dirty="0"/>
              <a:t>Saat Setor Pajak ke Negara</a:t>
            </a:r>
          </a:p>
          <a:p>
            <a:pPr marL="0" indent="0">
              <a:buNone/>
            </a:pPr>
            <a:r>
              <a:rPr lang="sv-SE" sz="1600" i="1" dirty="0" err="1"/>
              <a:t>Utang</a:t>
            </a:r>
            <a:r>
              <a:rPr lang="sv-SE" sz="1600" i="1" dirty="0"/>
              <a:t> </a:t>
            </a:r>
            <a:r>
              <a:rPr lang="sv-SE" sz="1600" i="1" dirty="0" err="1"/>
              <a:t>PPh</a:t>
            </a:r>
            <a:r>
              <a:rPr lang="sv-SE" sz="1600" i="1" dirty="0"/>
              <a:t> 4(2)              125.000.000</a:t>
            </a:r>
          </a:p>
          <a:p>
            <a:pPr marL="0" indent="0">
              <a:buNone/>
            </a:pPr>
            <a:r>
              <a:rPr lang="sv-SE" sz="1600" i="1" dirty="0"/>
              <a:t>     Kas                               125.000.000</a:t>
            </a:r>
          </a:p>
          <a:p>
            <a:pPr marL="0" indent="0">
              <a:buNone/>
            </a:pPr>
            <a:endParaRPr lang="id-ID" i="1" dirty="0"/>
          </a:p>
        </p:txBody>
      </p:sp>
    </p:spTree>
    <p:extLst>
      <p:ext uri="{BB962C8B-B14F-4D97-AF65-F5344CB8AC3E}">
        <p14:creationId xmlns:p14="http://schemas.microsoft.com/office/powerpoint/2010/main" val="150248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6C08373-97AF-4BBB-84E3-8DC7D6BB9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474" y="487680"/>
            <a:ext cx="4681160" cy="3432360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5E301-D67F-5201-4931-4352F5F8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74" y="1517317"/>
            <a:ext cx="4198559" cy="140651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B425648-52FB-4CE2-A1C4-6719A7FB6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65283" y="643467"/>
            <a:ext cx="3013516" cy="2499282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0F514A-A377-408D-A524-2F61FDDC4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4080063"/>
            <a:ext cx="4084513" cy="199861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3C6738-E83E-4971-B268-931E12D85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65284" y="3303616"/>
            <a:ext cx="3610202" cy="2775066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61F878-C281-3608-A19F-E5DF06D42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746" y="3625350"/>
            <a:ext cx="3089276" cy="21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7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6DA039-D665-4651-9D65-53A962987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576072" cy="5330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78C942-E4B2-8121-A023-3A2DD58B27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7" r="18277" b="4"/>
          <a:stretch>
            <a:fillRect/>
          </a:stretch>
        </p:blipFill>
        <p:spPr>
          <a:xfrm>
            <a:off x="4566066" y="3264090"/>
            <a:ext cx="4175181" cy="35939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ABB0FE-5104-3E1E-619B-431FC37F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87" b="-1"/>
          <a:stretch>
            <a:fillRect/>
          </a:stretch>
        </p:blipFill>
        <p:spPr>
          <a:xfrm>
            <a:off x="694527" y="9"/>
            <a:ext cx="5459934" cy="3895335"/>
          </a:xfrm>
          <a:custGeom>
            <a:avLst/>
            <a:gdLst/>
            <a:ahLst/>
            <a:cxnLst/>
            <a:rect l="l" t="t" r="r" b="b"/>
            <a:pathLst>
              <a:path w="7279913" h="3895335">
                <a:moveTo>
                  <a:pt x="0" y="0"/>
                </a:moveTo>
                <a:lnTo>
                  <a:pt x="7279913" y="0"/>
                </a:lnTo>
                <a:lnTo>
                  <a:pt x="7279913" y="3116976"/>
                </a:lnTo>
                <a:lnTo>
                  <a:pt x="5011287" y="3116976"/>
                </a:lnTo>
                <a:lnTo>
                  <a:pt x="5011287" y="3895335"/>
                </a:lnTo>
                <a:lnTo>
                  <a:pt x="0" y="3895335"/>
                </a:lnTo>
                <a:close/>
              </a:path>
            </a:pathLst>
          </a:cu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19C753-527F-49C2-9DB2-269257A43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062" y="758952"/>
            <a:ext cx="2485185" cy="23580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5DE047-E458-43C7-81D1-D38C77955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4527" y="4069422"/>
            <a:ext cx="3750889" cy="202048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BC3A24-7807-4A5F-990E-A6BA01BFE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3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EF3F1-2817-4593-8575-BCF2AAB42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0B66D0-F54F-29CC-9B3E-28CB447014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5246"/>
          <a:stretch>
            <a:fillRect/>
          </a:stretch>
        </p:blipFill>
        <p:spPr>
          <a:xfrm>
            <a:off x="728091" y="969264"/>
            <a:ext cx="7687818" cy="49194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F9A2C9-7772-4A25-A286-C89751B17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647" y="804672"/>
            <a:ext cx="7934706" cy="5248656"/>
          </a:xfrm>
          <a:prstGeom prst="rect">
            <a:avLst/>
          </a:prstGeom>
          <a:noFill/>
          <a:ln w="2540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32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BEDDE4-9748-B755-58EC-FBA364E37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551334"/>
            <a:ext cx="5530850" cy="3536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BC2F51-4137-0E53-F188-C34A28CC0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4365104"/>
            <a:ext cx="5505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24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F2406E-3782-78F7-6E38-D3BE6B612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08" r="-3" b="-3"/>
          <a:stretch>
            <a:fillRect/>
          </a:stretch>
        </p:blipFill>
        <p:spPr>
          <a:xfrm>
            <a:off x="4064448" y="3265079"/>
            <a:ext cx="4596951" cy="3592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0CD16D-85B4-54E7-7770-F6FC4636B0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6" r="20831"/>
          <a:stretch>
            <a:fillRect/>
          </a:stretch>
        </p:blipFill>
        <p:spPr>
          <a:xfrm>
            <a:off x="482600" y="-4"/>
            <a:ext cx="4562033" cy="3920044"/>
          </a:xfrm>
          <a:custGeom>
            <a:avLst/>
            <a:gdLst/>
            <a:ahLst/>
            <a:cxnLst/>
            <a:rect l="l" t="t" r="r" b="b"/>
            <a:pathLst>
              <a:path w="6082711" h="3920044">
                <a:moveTo>
                  <a:pt x="0" y="0"/>
                </a:moveTo>
                <a:lnTo>
                  <a:pt x="6082711" y="0"/>
                </a:lnTo>
                <a:lnTo>
                  <a:pt x="6082711" y="3103225"/>
                </a:lnTo>
                <a:lnTo>
                  <a:pt x="4614930" y="3103225"/>
                </a:lnTo>
                <a:lnTo>
                  <a:pt x="4614930" y="3920044"/>
                </a:lnTo>
                <a:lnTo>
                  <a:pt x="0" y="3920044"/>
                </a:lnTo>
                <a:close/>
              </a:path>
            </a:pathLst>
          </a:cu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26EC71-2F93-49F2-8A52-B5E037F83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65283" y="643467"/>
            <a:ext cx="3013516" cy="2460741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CA037-B343-40C1-893A-BB3C58EB8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4080063"/>
            <a:ext cx="2983677" cy="215614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73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08373-97AF-4BBB-84E3-8DC7D6BB9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474" y="487680"/>
            <a:ext cx="4681160" cy="3432360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273AB3-9D80-18C9-F8D4-BC2C860F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74" y="1134198"/>
            <a:ext cx="4198559" cy="21727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B425648-52FB-4CE2-A1C4-6719A7FB6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65283" y="643467"/>
            <a:ext cx="3013516" cy="2499282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0F514A-A377-408D-A524-2F61FDDC4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4080063"/>
            <a:ext cx="4084513" cy="199861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3C6738-E83E-4971-B268-931E12D85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65284" y="3303616"/>
            <a:ext cx="3610202" cy="2775066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7E5C4-C0D8-85E9-093C-8245E63E8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583" y="3772417"/>
            <a:ext cx="3127603" cy="183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80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allpaper (127).jpg"/>
          <p:cNvPicPr>
            <a:picLocks noChangeAspect="1"/>
          </p:cNvPicPr>
          <p:nvPr/>
        </p:nvPicPr>
        <p:blipFill>
          <a:blip r:embed="rId2" cstate="print"/>
          <a:srcRect t="71875" b="6250"/>
          <a:stretch>
            <a:fillRect/>
          </a:stretch>
        </p:blipFill>
        <p:spPr>
          <a:xfrm flipV="1">
            <a:off x="0" y="6857998"/>
            <a:ext cx="9144000" cy="457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000900"/>
            <a:ext cx="2214546" cy="500066"/>
          </a:xfrm>
          <a:prstGeom prst="rect">
            <a:avLst/>
          </a:prstGeom>
          <a:gradFill>
            <a:gsLst>
              <a:gs pos="0">
                <a:schemeClr val="accent1">
                  <a:shade val="51000"/>
                  <a:satMod val="130000"/>
                  <a:alpha val="83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</a:gradFill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5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Orang Pribadi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57290" y="1142984"/>
            <a:ext cx="6858048" cy="1588"/>
          </a:xfrm>
          <a:prstGeom prst="line">
            <a:avLst/>
          </a:prstGeom>
          <a:ln>
            <a:tailEnd type="oval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00364" y="642918"/>
            <a:ext cx="5143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b="1" dirty="0"/>
              <a:t>Angsuran PPh Pasal 25</a:t>
            </a:r>
            <a:endParaRPr lang="en-US" sz="2000" b="1" dirty="0"/>
          </a:p>
        </p:txBody>
      </p:sp>
      <p:pic>
        <p:nvPicPr>
          <p:cNvPr id="4098" name="Picture 2" descr="C:\Users\Pussycat\Pictures\Microsoft Clip Organizer\j043524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00042"/>
            <a:ext cx="1214414" cy="1214414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28596" y="1571612"/>
            <a:ext cx="80010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Angsuran PPh Pasal 25 :</a:t>
            </a:r>
          </a:p>
          <a:p>
            <a:endParaRPr lang="id-ID" dirty="0"/>
          </a:p>
          <a:p>
            <a:pPr>
              <a:buFont typeface="Courier New" pitchFamily="49" charset="0"/>
              <a:buChar char="o"/>
            </a:pPr>
            <a:r>
              <a:rPr lang="id-ID" dirty="0"/>
              <a:t> Merupakan angsuran / pajak dibayar dimuka yang  pada akhir tahun dapat dikreditkan/mengurangi pajak terutang tahun pajak bersangkutan.</a:t>
            </a:r>
          </a:p>
          <a:p>
            <a:endParaRPr lang="id-ID" dirty="0"/>
          </a:p>
          <a:p>
            <a:pPr>
              <a:buFont typeface="Courier New" pitchFamily="49" charset="0"/>
              <a:buChar char="o"/>
            </a:pPr>
            <a:r>
              <a:rPr lang="id-ID" dirty="0"/>
              <a:t> Secara umum angsuran PPh 25 dapat dihitung dengan rumus :</a:t>
            </a:r>
          </a:p>
          <a:p>
            <a:endParaRPr lang="id-ID" dirty="0"/>
          </a:p>
          <a:p>
            <a:pPr algn="ctr"/>
            <a:r>
              <a:rPr lang="id-ID" b="1" dirty="0"/>
              <a:t>(PPh terutang – Pph dipotong/dipungut pihak lain ) : 12</a:t>
            </a:r>
          </a:p>
          <a:p>
            <a:r>
              <a:rPr lang="id-ID" dirty="0"/>
              <a:t>Contoh  :</a:t>
            </a:r>
          </a:p>
          <a:p>
            <a:pPr lvl="0"/>
            <a:endParaRPr lang="id-ID" dirty="0"/>
          </a:p>
          <a:p>
            <a:pPr lvl="0"/>
            <a:r>
              <a:rPr lang="id-ID" dirty="0"/>
              <a:t>Tn. Monang Saragih adalah seorang pengacara di Bandung. Dalam memenuhi kewajiban perpajakannya, Tn. Monang Saragih menyelenggarakan pembukuan. Untuk Tahun 2012 data  kewajiban perpajakannya adalah sbb:</a:t>
            </a:r>
          </a:p>
          <a:p>
            <a:pPr lvl="0"/>
            <a:r>
              <a:rPr lang="id-ID" dirty="0"/>
              <a:t>PPh terutang					Rp. 60.000.000,- </a:t>
            </a:r>
          </a:p>
          <a:p>
            <a:pPr lvl="0"/>
            <a:r>
              <a:rPr lang="id-ID" dirty="0"/>
              <a:t>Kredit Pajak :</a:t>
            </a:r>
          </a:p>
          <a:p>
            <a:pPr lvl="0"/>
            <a:r>
              <a:rPr lang="id-ID" dirty="0"/>
              <a:t> PPh Pasal 21		Rp. 7.000.000,-</a:t>
            </a:r>
          </a:p>
          <a:p>
            <a:pPr lvl="0"/>
            <a:r>
              <a:rPr lang="id-ID" dirty="0"/>
              <a:t>PPh Pasal  23		Rp. 5.000.000,-</a:t>
            </a:r>
          </a:p>
          <a:p>
            <a:pPr lvl="0"/>
            <a:r>
              <a:rPr lang="id-ID" dirty="0"/>
              <a:t>PPh Pasal 25 		Rp. 30.000.000,-</a:t>
            </a:r>
          </a:p>
          <a:p>
            <a:pPr lvl="0"/>
            <a:endParaRPr lang="id-ID" dirty="0">
              <a:latin typeface="Segoe UI" pitchFamily="34" charset="0"/>
              <a:cs typeface="Segoe UI" pitchFamily="34" charset="0"/>
            </a:endParaRPr>
          </a:p>
          <a:p>
            <a:pPr algn="just"/>
            <a:endParaRPr lang="id-ID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00298" y="7000900"/>
            <a:ext cx="6643702" cy="50006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5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>
                <a:solidFill>
                  <a:srgbClr val="FF0000"/>
                </a:solidFill>
              </a:rPr>
              <a:t>Penggabungan Penghasilan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allpaper (127).jpg"/>
          <p:cNvPicPr>
            <a:picLocks noChangeAspect="1"/>
          </p:cNvPicPr>
          <p:nvPr/>
        </p:nvPicPr>
        <p:blipFill>
          <a:blip r:embed="rId2" cstate="print"/>
          <a:srcRect t="71875" b="6250"/>
          <a:stretch>
            <a:fillRect/>
          </a:stretch>
        </p:blipFill>
        <p:spPr>
          <a:xfrm flipV="1">
            <a:off x="0" y="6857998"/>
            <a:ext cx="9144000" cy="457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7000900"/>
            <a:ext cx="2214546" cy="500066"/>
          </a:xfrm>
          <a:prstGeom prst="rect">
            <a:avLst/>
          </a:prstGeom>
          <a:gradFill>
            <a:gsLst>
              <a:gs pos="0">
                <a:schemeClr val="accent1">
                  <a:shade val="51000"/>
                  <a:satMod val="130000"/>
                  <a:alpha val="83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</a:gradFill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5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Orang Pribadi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57290" y="1142984"/>
            <a:ext cx="6858048" cy="1588"/>
          </a:xfrm>
          <a:prstGeom prst="line">
            <a:avLst/>
          </a:prstGeom>
          <a:ln>
            <a:tailEnd type="oval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00364" y="642918"/>
            <a:ext cx="5143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b="1" dirty="0"/>
              <a:t>Angsuran PPh Pasal 25</a:t>
            </a:r>
            <a:endParaRPr lang="en-US" sz="2000" b="1" dirty="0"/>
          </a:p>
        </p:txBody>
      </p:sp>
      <p:pic>
        <p:nvPicPr>
          <p:cNvPr id="4098" name="Picture 2" descr="C:\Users\Pussycat\Pictures\Microsoft Clip Organizer\j043524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500042"/>
            <a:ext cx="1214414" cy="1214414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28596" y="1571612"/>
            <a:ext cx="80010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Hitunglah Angsuran PPh Pasal 25 untuk tahun 2013 :</a:t>
            </a:r>
          </a:p>
          <a:p>
            <a:pPr lvl="0"/>
            <a:r>
              <a:rPr lang="id-ID" dirty="0"/>
              <a:t>PPh terutang					Rp. 60.000.000,- </a:t>
            </a:r>
          </a:p>
          <a:p>
            <a:pPr lvl="0"/>
            <a:r>
              <a:rPr lang="id-ID" dirty="0"/>
              <a:t>Kredit Pajak dipotong/dipungut pihak lain :</a:t>
            </a:r>
          </a:p>
          <a:p>
            <a:pPr lvl="0"/>
            <a:r>
              <a:rPr lang="id-ID" dirty="0"/>
              <a:t> PPh Pasal 21		Rp. 7.000.000,-</a:t>
            </a:r>
          </a:p>
          <a:p>
            <a:pPr lvl="0"/>
            <a:r>
              <a:rPr lang="id-ID" dirty="0"/>
              <a:t>PPh Pasal  23		</a:t>
            </a:r>
            <a:r>
              <a:rPr lang="id-ID" u="sng" dirty="0"/>
              <a:t>Rp. 5.000.000,-</a:t>
            </a:r>
          </a:p>
          <a:p>
            <a:pPr lvl="0"/>
            <a:r>
              <a:rPr lang="id-ID" dirty="0"/>
              <a:t>						</a:t>
            </a:r>
            <a:r>
              <a:rPr lang="id-ID" u="sng" dirty="0"/>
              <a:t>Rp. 12.000.000,-</a:t>
            </a:r>
          </a:p>
          <a:p>
            <a:pPr lvl="0"/>
            <a:r>
              <a:rPr lang="id-ID" dirty="0"/>
              <a:t>PPh yang harus dibayar sendiri			Rp. 48.000.000,-</a:t>
            </a:r>
          </a:p>
          <a:p>
            <a:pPr lvl="0"/>
            <a:r>
              <a:rPr lang="id-ID" dirty="0"/>
              <a:t>Kredit Pajak dibayar sendiri :</a:t>
            </a:r>
          </a:p>
          <a:p>
            <a:pPr lvl="0"/>
            <a:r>
              <a:rPr lang="id-ID" dirty="0"/>
              <a:t>PPh Pasal 25 					</a:t>
            </a:r>
            <a:r>
              <a:rPr lang="id-ID" u="sng" dirty="0"/>
              <a:t>Rp. 30.000.000,-</a:t>
            </a:r>
          </a:p>
          <a:p>
            <a:pPr lvl="0"/>
            <a:r>
              <a:rPr lang="id-ID" dirty="0">
                <a:latin typeface="Segoe UI" pitchFamily="34" charset="0"/>
                <a:cs typeface="Segoe UI" pitchFamily="34" charset="0"/>
              </a:rPr>
              <a:t>PPh Kurang (lebih) bayar				Rp. 18.000.000,-</a:t>
            </a:r>
          </a:p>
          <a:p>
            <a:pPr lvl="0"/>
            <a:endParaRPr lang="id-ID" dirty="0">
              <a:latin typeface="Segoe UI" pitchFamily="34" charset="0"/>
              <a:cs typeface="Segoe UI" pitchFamily="34" charset="0"/>
            </a:endParaRPr>
          </a:p>
          <a:p>
            <a:pPr lvl="0"/>
            <a:r>
              <a:rPr lang="id-ID" dirty="0">
                <a:latin typeface="Segoe UI" pitchFamily="34" charset="0"/>
                <a:cs typeface="Segoe UI" pitchFamily="34" charset="0"/>
              </a:rPr>
              <a:t>Angsuran PPh Pasal 25 :</a:t>
            </a:r>
          </a:p>
          <a:p>
            <a:pPr lvl="0"/>
            <a:r>
              <a:rPr lang="id-ID" dirty="0">
                <a:latin typeface="Segoe UI" pitchFamily="34" charset="0"/>
                <a:cs typeface="Segoe UI" pitchFamily="34" charset="0"/>
              </a:rPr>
              <a:t>( Rp. 60 juta – Rp. 12 juta ) /12	= Rp. 4 juta</a:t>
            </a:r>
          </a:p>
          <a:p>
            <a:pPr lvl="0"/>
            <a:endParaRPr lang="id-ID" dirty="0">
              <a:latin typeface="Segoe UI" pitchFamily="34" charset="0"/>
              <a:cs typeface="Segoe UI" pitchFamily="34" charset="0"/>
            </a:endParaRPr>
          </a:p>
          <a:p>
            <a:pPr lvl="0"/>
            <a:r>
              <a:rPr lang="id-ID" dirty="0">
                <a:latin typeface="Segoe UI" pitchFamily="34" charset="0"/>
                <a:cs typeface="Segoe UI" pitchFamily="34" charset="0"/>
              </a:rPr>
              <a:t>*) Angsuran sebesar Rp. 4 juta di bayar mulai Maret 2013 sd Februari 2014.</a:t>
            </a:r>
          </a:p>
          <a:p>
            <a:pPr lvl="0"/>
            <a:r>
              <a:rPr lang="id-ID" dirty="0">
                <a:latin typeface="Segoe UI" pitchFamily="34" charset="0"/>
                <a:cs typeface="Segoe UI" pitchFamily="34" charset="0"/>
              </a:rPr>
              <a:t>    Dibayar perbulan.</a:t>
            </a:r>
          </a:p>
          <a:p>
            <a:pPr lvl="0"/>
            <a:r>
              <a:rPr lang="id-ID" dirty="0">
                <a:latin typeface="Segoe UI" pitchFamily="34" charset="0"/>
                <a:cs typeface="Segoe UI" pitchFamily="34" charset="0"/>
              </a:rPr>
              <a:t>*) Angsuran bulan Januari dan Februari 2013 besarnya sama dengan angsuran pph pasal 25 bulan Desember 2012.</a:t>
            </a:r>
          </a:p>
          <a:p>
            <a:pPr lvl="0"/>
            <a:r>
              <a:rPr lang="id-ID" dirty="0">
                <a:latin typeface="Segoe UI" pitchFamily="34" charset="0"/>
                <a:cs typeface="Segoe UI" pitchFamily="34" charset="0"/>
              </a:rPr>
              <a:t> 	</a:t>
            </a:r>
          </a:p>
          <a:p>
            <a:pPr algn="just"/>
            <a:endParaRPr lang="id-ID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00298" y="7000900"/>
            <a:ext cx="6643702" cy="50006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5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>
                <a:solidFill>
                  <a:srgbClr val="FF0000"/>
                </a:solidFill>
              </a:rPr>
              <a:t>Penggabungan Penghasilan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14066</TotalTime>
  <Words>812</Words>
  <Application>Microsoft Office PowerPoint</Application>
  <PresentationFormat>On-screen Show (4:3)</PresentationFormat>
  <Paragraphs>137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 New</vt:lpstr>
      <vt:lpstr>Gill Sans MT</vt:lpstr>
      <vt:lpstr>Segoe UI</vt:lpstr>
      <vt:lpstr>Wingdings</vt:lpstr>
      <vt:lpstr>Parcel</vt:lpstr>
      <vt:lpstr>PAJAK PENGHASILAN PPh PASAL 4 AYAT 2 DAN PPh PASAL 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Pussycat</dc:creator>
  <cp:lastModifiedBy>RAHMADI</cp:lastModifiedBy>
  <cp:revision>362</cp:revision>
  <dcterms:created xsi:type="dcterms:W3CDTF">2008-07-12T14:32:38Z</dcterms:created>
  <dcterms:modified xsi:type="dcterms:W3CDTF">2026-03-03T05:42:39Z</dcterms:modified>
</cp:coreProperties>
</file>